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854A"/>
                </a:solidFill>
                <a:latin typeface="Calibri"/>
              </a:rPr>
              <a:t>Volunteer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Technical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C1B2"/>
                </a:solidFill>
                <a:latin typeface="Calibri"/>
              </a:rPr>
              <a:t>Architecture  ·  Data Model  ·  Authentication &amp;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8716C"/>
                </a:solidFill>
                <a:latin typeface="Calibri"/>
              </a:rPr>
              <a:t>Next.js 16 · React 19 · Supabase (Postgres / Auth / Storage) ·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560320"/>
            <a:ext cx="822960" cy="822960"/>
          </a:xfrm>
          <a:prstGeom prst="round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71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51460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3429000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1B2"/>
                </a:solidFill>
                <a:latin typeface="Calibri"/>
              </a:rPr>
              <a:t>How the system is composed and how a request flows through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ARCHITECTURE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System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286000" cy="86868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828800"/>
            <a:ext cx="2139696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Volunteers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D4ED8"/>
                </a:solidFill>
                <a:latin typeface="Calibri"/>
              </a:rPr>
              <a:t>Mobile-first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2286000" cy="86868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971800"/>
            <a:ext cx="2139696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Admins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D4ED8"/>
                </a:solidFill>
                <a:latin typeface="Calibri"/>
              </a:rPr>
              <a:t>Dashboard +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48840"/>
            <a:ext cx="2926080" cy="1828800"/>
          </a:xfrm>
          <a:prstGeom prst="round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148840"/>
            <a:ext cx="2779776" cy="1828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Next.js 16 app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1B2"/>
                </a:solidFill>
                <a:latin typeface="Calibri"/>
              </a:rPr>
              <a:t>App Router · server route
handlers · React 19 UI
(hosted on Vercel)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554480"/>
            <a:ext cx="3840480" cy="11430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554480"/>
            <a:ext cx="3694176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Supabase — Postgres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3D"/>
                </a:solidFill>
                <a:latin typeface="Calibri"/>
              </a:rPr>
              <a:t>Row-level security · triggers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788920"/>
            <a:ext cx="1828800" cy="9144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788920"/>
            <a:ext cx="1682496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Auth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3D"/>
                </a:solidFill>
                <a:latin typeface="Calibri"/>
              </a:rPr>
              <a:t>JWT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788920"/>
            <a:ext cx="1828800" cy="9144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7232" y="2788920"/>
            <a:ext cx="1682496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Storage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3D"/>
                </a:solidFill>
                <a:latin typeface="Calibri"/>
              </a:rPr>
              <a:t>DBS · certs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977639"/>
            <a:ext cx="1417320" cy="77724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3977639"/>
            <a:ext cx="12710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714"/>
                </a:solidFill>
                <a:latin typeface="Calibri"/>
              </a:rPr>
              <a:t>Resend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716C"/>
                </a:solidFill>
                <a:latin typeface="Calibri"/>
              </a:rPr>
              <a:t>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3977639"/>
            <a:ext cx="1417320" cy="77724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68712" y="3977639"/>
            <a:ext cx="12710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714"/>
                </a:solidFill>
                <a:latin typeface="Calibri"/>
              </a:rPr>
              <a:t>Voodoo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716C"/>
                </a:solidFill>
                <a:latin typeface="Calibri"/>
              </a:rPr>
              <a:t>SMS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2258568"/>
            <a:ext cx="1005840" cy="210312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834640" y="3200400"/>
            <a:ext cx="1005840" cy="201168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66560" y="2194560"/>
            <a:ext cx="1005840" cy="45720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66560" y="3017520"/>
            <a:ext cx="1005840" cy="18288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66560" y="3200400"/>
            <a:ext cx="3017520" cy="18288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66560" y="3657600"/>
            <a:ext cx="1005840" cy="54864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40480" y="429768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Webhooks (delivery receipts) ← Resend / Voodoo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5669280" y="4526280"/>
            <a:ext cx="2651760" cy="228600"/>
          </a:xfrm>
          <a:prstGeom prst="line">
            <a:avLst/>
          </a:prstGeom>
          <a:ln w="22225">
            <a:prstDash val="dash"/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5120640"/>
            <a:ext cx="11064240" cy="96012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30368"/>
            <a:ext cx="10698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In one 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Browsers talk only to the Next.js app; the app is the single gateway to Postgres, Auth, Storage and the email/SMS providers. Providers call back via signed webhooks to record delivery status.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ARCHITECTURE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Runtime &amp; conventions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Next.js 16 (App Router).  </a:t>
            </a:r>
            <a:r>
              <a:rPr sz="1300">
                <a:solidFill>
                  <a:srgbClr val="78716C"/>
                </a:solidFill>
                <a:latin typeface="Calibri"/>
              </a:rPr>
              <a:t>Server route handlers under /api/* are the entire backend; React Server + Client Components for the UI.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React 19 + TypeScript + Tailwind v4.  </a:t>
            </a:r>
            <a:r>
              <a:rPr sz="1300">
                <a:solidFill>
                  <a:srgbClr val="78716C"/>
                </a:solidFill>
                <a:latin typeface="Calibri"/>
              </a:rPr>
              <a:t>Strongly-typed; design tokens for the gold/espresso theme.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Vercel hosting.  </a:t>
            </a:r>
            <a:r>
              <a:rPr sz="1300">
                <a:solidFill>
                  <a:srgbClr val="78716C"/>
                </a:solidFill>
                <a:latin typeface="Calibri"/>
              </a:rPr>
              <a:t>Serverless functions; env-var driven config per environment.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No custom middleware.  </a:t>
            </a:r>
            <a:r>
              <a:rPr sz="1300">
                <a:solidFill>
                  <a:srgbClr val="78716C"/>
                </a:solidFill>
                <a:latin typeface="Calibri"/>
              </a:rPr>
              <a:t>Every protected route enforces auth itself via a guard — single, explicit gate per handler.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Two Supabase clients.  </a:t>
            </a:r>
            <a:r>
              <a:rPr sz="1300">
                <a:solidFill>
                  <a:srgbClr val="78716C"/>
                </a:solidFill>
                <a:latin typeface="Calibri"/>
              </a:rPr>
              <a:t>An anon/SSR client (carries the user session, RLS-enforced) and a service-role client (server-only, bypasses RLS).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Append-only &amp; trigger-derived data.  </a:t>
            </a:r>
            <a:r>
              <a:rPr sz="1300">
                <a:solidFill>
                  <a:srgbClr val="78716C"/>
                </a:solidFill>
                <a:latin typeface="Calibri"/>
              </a:rPr>
              <a:t>e.g. points are append-only; compliance status is computed by a DB trigger.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Email/SMS as templates.  </a:t>
            </a:r>
            <a:r>
              <a:rPr sz="1300">
                <a:solidFill>
                  <a:srgbClr val="78716C"/>
                </a:solidFill>
                <a:latin typeface="Calibri"/>
              </a:rPr>
              <a:t>Admin-editable templates rendered + sent via Resend / Voodoo.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10972800" cy="868680"/>
          </a:xfrm>
          <a:prstGeom prst="round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367528"/>
            <a:ext cx="10607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Backend = route handlers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There is no separate API server. Each file under app/api/* is a serverless endpoint that authenticates, then uses the appropriate Supabase client.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ARCHITECTURE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Request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8716C"/>
                </a:solidFill>
                <a:latin typeface="Calibri"/>
              </a:rPr>
              <a:t>A typical authenticated API call,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103120" cy="137160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286000"/>
            <a:ext cx="195681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D4ED8"/>
                </a:solidFill>
                <a:latin typeface="Calibri"/>
              </a:rPr>
              <a:t>fetch('/api/…')
with session cookie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971800"/>
            <a:ext cx="292608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4368" y="2286000"/>
            <a:ext cx="2103120" cy="1371600"/>
          </a:xfrm>
          <a:prstGeom prst="round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286000"/>
            <a:ext cx="195681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Route handler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9C1B2"/>
                </a:solidFill>
                <a:latin typeface="Calibri"/>
              </a:rPr>
              <a:t>app/api/*/route.ts
(serverless on Vercel)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47488" y="2971800"/>
            <a:ext cx="292608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0096" y="2286000"/>
            <a:ext cx="2103120" cy="137160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2286000"/>
            <a:ext cx="195681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714"/>
                </a:solidFill>
                <a:latin typeface="Calibri"/>
              </a:rPr>
              <a:t>Auth guard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714"/>
                </a:solidFill>
                <a:latin typeface="Calibri"/>
              </a:rPr>
              <a:t>requireAdminUser()  or
supabase.auth.getUser()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43216" y="2971800"/>
            <a:ext cx="292608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35823" y="2286000"/>
            <a:ext cx="2103120" cy="13716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5" y="2286000"/>
            <a:ext cx="195681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Supabase client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803D"/>
                </a:solidFill>
                <a:latin typeface="Calibri"/>
              </a:rPr>
              <a:t>service-role (bypass RLS)
or anon (RLS-enforced)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38943" y="2971800"/>
            <a:ext cx="292608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31551" y="2286000"/>
            <a:ext cx="2103120" cy="13716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04703" y="2286000"/>
            <a:ext cx="1956815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Postgres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803D"/>
                </a:solidFill>
                <a:latin typeface="Calibri"/>
              </a:rPr>
              <a:t>query + triggers,
returns rows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00200" y="3703320"/>
            <a:ext cx="10588751" cy="0"/>
          </a:xfrm>
          <a:prstGeom prst="line">
            <a:avLst/>
          </a:prstGeom>
          <a:ln w="22225">
            <a:prstDash val="dash"/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6240" y="376732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8716C"/>
                </a:solidFill>
                <a:latin typeface="Calibri"/>
              </a:rPr>
              <a:t>JSON response ← returned to the browser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100584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106984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Where authorization lives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The guard runs before any data access. Admin endpoints check the JWT's app_metadata.role (set server-side, not user-editable); volunteer endpoints resolve the volunteer from the session — never from a client-supplied 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ARCHITECTURE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Supabase clients &amp; the trust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12080" cy="64008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11680"/>
            <a:ext cx="5065776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D4ED8"/>
                </a:solidFill>
                <a:latin typeface="Calibri"/>
              </a:rPr>
              <a:t>Anon / SSR client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D4ED8"/>
                </a:solidFill>
                <a:latin typeface="Calibri"/>
              </a:rPr>
              <a:t>carries the end-user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Used by  </a:t>
            </a:r>
            <a:r>
              <a:rPr sz="1150">
                <a:solidFill>
                  <a:srgbClr val="78716C"/>
                </a:solidFill>
                <a:latin typeface="Calibri"/>
              </a:rPr>
              <a:t>the browser &amp; cookie-bound server reads.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RLS enforced  </a:t>
            </a:r>
            <a:r>
              <a:rPr sz="1150">
                <a:solidFill>
                  <a:srgbClr val="78716C"/>
                </a:solidFill>
                <a:latin typeface="Calibri"/>
              </a:rPr>
              <a:t>— only rows the policy allows.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Public anon key  </a:t>
            </a:r>
            <a:r>
              <a:rPr sz="1150">
                <a:solidFill>
                  <a:srgbClr val="78716C"/>
                </a:solidFill>
                <a:latin typeface="Calibri"/>
              </a:rPr>
              <a:t>ships to the browser (not a secret).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12080" cy="6400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011680"/>
            <a:ext cx="5065776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803D"/>
                </a:solidFill>
                <a:latin typeface="Calibri"/>
              </a:rPr>
              <a:t>Service-role client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3D"/>
                </a:solidFill>
                <a:latin typeface="Calibri"/>
              </a:rPr>
              <a:t>server-only, full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Used by  </a:t>
            </a:r>
            <a:r>
              <a:rPr sz="1150">
                <a:solidFill>
                  <a:srgbClr val="78716C"/>
                </a:solidFill>
                <a:latin typeface="Calibri"/>
              </a:rPr>
              <a:t>route handlers for privileged writes.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Bypasses RLS  </a:t>
            </a:r>
            <a:r>
              <a:rPr sz="1150">
                <a:solidFill>
                  <a:srgbClr val="78716C"/>
                </a:solidFill>
                <a:latin typeface="Calibri"/>
              </a:rPr>
              <a:t>— so handlers must authorize first.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A8854A"/>
                </a:solidFill>
                <a:latin typeface="Calibri"/>
              </a:rPr>
              <a:t>•  </a:t>
            </a:r>
            <a:r>
              <a:rPr sz="1150" b="1">
                <a:solidFill>
                  <a:srgbClr val="1A1714"/>
                </a:solidFill>
                <a:latin typeface="Calibri"/>
              </a:rPr>
              <a:t>SUPABASE_SERVICE_ROLE_KEY  </a:t>
            </a:r>
            <a:r>
              <a:rPr sz="1150">
                <a:solidFill>
                  <a:srgbClr val="78716C"/>
                </a:solidFill>
                <a:latin typeface="Calibri"/>
              </a:rPr>
              <a:t>server-only; never in client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960120"/>
          </a:xfrm>
          <a:prstGeom prst="roundRect">
            <a:avLst/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184648"/>
            <a:ext cx="105156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92400E"/>
                </a:solidFill>
                <a:latin typeface="Calibri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2400E"/>
                </a:solidFill>
                <a:latin typeface="Calibri"/>
              </a:rPr>
              <a:t>Because the service-role client bypasses RLS, the security boundary is the route handler's guard. RLS is still the safety net: most tables are deny-by-default (RLS on, no anon policy), so a leaked anon key can't read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ARCHITECTURE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External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Outbound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57783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Resend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Transactional + broadcast email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Voodoo SMS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SMS broadcasts + direct SMS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Supabase Storage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dbs-documents (private), certificates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Inbound webhooks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93976"/>
          <a:ext cx="5120639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/api/webhooks/resend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Delivery / open / bounce — HMAC-verified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/api/webhooks/voodoo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SMS delivery status — token-verified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3154680"/>
            <a:ext cx="5120640" cy="1463040"/>
          </a:xfrm>
          <a:prstGeom prst="round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64408"/>
            <a:ext cx="4754879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Delivery tracking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Each broadcast recipient row stores the provider message id. Webhooks (or an on-demand poll) flip the row to delivered / failed, powering the per-recipient ‘who received / who failed’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200"/>
            <a:ext cx="5577840" cy="105156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138928"/>
            <a:ext cx="5212079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Secrets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All provider keys are server-only env vars. Only NEXT_PUBLIC_SUPABASE_URL / ANON_KEY / APP_URL are exposed to the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560320"/>
            <a:ext cx="822960" cy="822960"/>
          </a:xfrm>
          <a:prstGeom prst="round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714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51460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3429000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1B2"/>
                </a:solidFill>
                <a:latin typeface="Calibri"/>
              </a:rPr>
              <a:t>20 tables across identity, compliance, events, engagement &amp; messaging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Entity relationships (core)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880360"/>
            <a:ext cx="2103120" cy="777240"/>
          </a:xfrm>
          <a:prstGeom prst="round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2352" y="2880360"/>
            <a:ext cx="1956815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volunteers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1B2"/>
                </a:solidFill>
                <a:latin typeface="Calibri"/>
              </a:rPr>
              <a:t>the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08760"/>
            <a:ext cx="2103120" cy="73152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2352" y="1508760"/>
            <a:ext cx="195681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volunteer_compliance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3D"/>
                </a:solidFill>
                <a:latin typeface="Calibri"/>
              </a:rPr>
              <a:t>1 —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737360" cy="73152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" y="2926080"/>
            <a:ext cx="159105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714"/>
                </a:solidFill>
                <a:latin typeface="Calibri"/>
              </a:rPr>
              <a:t>admins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417320"/>
            <a:ext cx="1828800" cy="73152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1417320"/>
            <a:ext cx="168249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1714"/>
                </a:solidFill>
                <a:latin typeface="Calibri"/>
              </a:rPr>
              <a:t>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417320"/>
            <a:ext cx="1463040" cy="73152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88752" y="1417320"/>
            <a:ext cx="131673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1714"/>
                </a:solidFill>
                <a:latin typeface="Calibri"/>
              </a:rPr>
              <a:t>roles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716C"/>
                </a:solidFill>
                <a:latin typeface="Calibri"/>
              </a:rPr>
              <a:t>catalog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423160"/>
            <a:ext cx="1828800" cy="73152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2423160"/>
            <a:ext cx="168249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1714"/>
                </a:solidFill>
                <a:latin typeface="Calibri"/>
              </a:rPr>
              <a:t>event_roles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429000"/>
            <a:ext cx="2011680" cy="73152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429000"/>
            <a:ext cx="186537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event_applications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D4ED8"/>
                </a:solidFill>
                <a:latin typeface="Calibri"/>
              </a:rPr>
              <a:t>sign-ups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34840"/>
            <a:ext cx="1828800" cy="73152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4434840"/>
            <a:ext cx="168249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check_ins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D4ED8"/>
                </a:solidFill>
                <a:latin typeface="Calibri"/>
              </a:rPr>
              <a:t>QR scans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4389120"/>
            <a:ext cx="2103120" cy="73152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4389120"/>
            <a:ext cx="1956815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Calibri"/>
              </a:rPr>
              <a:t>points_transactions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21B6"/>
                </a:solidFill>
                <a:latin typeface="Calibri"/>
              </a:rPr>
              <a:t>append-only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828800" cy="73152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1" y="4297680"/>
            <a:ext cx="168249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broadcast_recipients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297680"/>
            <a:ext cx="1737360" cy="73152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4297680"/>
            <a:ext cx="159105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5B21B6"/>
                </a:solidFill>
                <a:latin typeface="Calibri"/>
              </a:rPr>
              <a:t>communications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21B6"/>
                </a:solidFill>
                <a:latin typeface="Calibri"/>
              </a:rPr>
              <a:t>per-person log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080760" y="2240280"/>
            <a:ext cx="0" cy="640080"/>
          </a:xfrm>
          <a:prstGeom prst="line">
            <a:avLst/>
          </a:prstGeom>
          <a:ln w="22225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77440" y="3200400"/>
            <a:ext cx="2651760" cy="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132320" y="1828800"/>
            <a:ext cx="1371600" cy="109728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18320" y="2148840"/>
            <a:ext cx="0" cy="27432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692640" y="1783080"/>
            <a:ext cx="822960" cy="64008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7132320" y="3291840"/>
            <a:ext cx="1371600" cy="5029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18320" y="3154680"/>
            <a:ext cx="0" cy="2743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144000" y="4160520"/>
            <a:ext cx="0" cy="27432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6309360" y="3657600"/>
            <a:ext cx="91440" cy="731520"/>
          </a:xfrm>
          <a:prstGeom prst="line">
            <a:avLst/>
          </a:prstGeom>
          <a:ln w="22225">
            <a:solidFill>
              <a:srgbClr val="5B21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132320" y="4663440"/>
            <a:ext cx="1371600" cy="91440"/>
          </a:xfrm>
          <a:prstGeom prst="line">
            <a:avLst/>
          </a:prstGeom>
          <a:ln w="22225">
            <a:solidFill>
              <a:srgbClr val="5B21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468880" y="3383280"/>
            <a:ext cx="2560320" cy="914400"/>
          </a:xfrm>
          <a:prstGeom prst="line">
            <a:avLst/>
          </a:prstGeom>
          <a:ln w="22225">
            <a:solidFill>
              <a:srgbClr val="7871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657600" y="3474720"/>
            <a:ext cx="1371600" cy="822960"/>
          </a:xfrm>
          <a:prstGeom prst="line">
            <a:avLst/>
          </a:prstGeom>
          <a:ln w="22225">
            <a:solidFill>
              <a:srgbClr val="5B21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8716C"/>
                </a:solidFill>
                <a:latin typeface="Calibri"/>
              </a:rPr>
              <a:t>Lines show foreign-key relationships. Colour = domain: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687568"/>
            <a:ext cx="164592" cy="164592"/>
          </a:xfrm>
          <a:prstGeom prst="round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58768" y="561441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identity/staff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57800" y="5687568"/>
            <a:ext cx="164592" cy="164592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561441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compliance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687568"/>
            <a:ext cx="164592" cy="164592"/>
          </a:xfrm>
          <a:prstGeom prst="round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9168" y="561441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events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5687568"/>
            <a:ext cx="164592" cy="164592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9367" y="561441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participation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0" y="5687568"/>
            <a:ext cx="164592" cy="164592"/>
          </a:xfrm>
          <a:prstGeom prst="round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59567" y="5614416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engagement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Identity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4864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volunteers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486399" cy="1952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288"/>
                <a:gridCol w="3182111"/>
              </a:tblGrid>
              <a:tr h="27889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uuid · PK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auth_user_id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FK → auth.users (Supabase Auth)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email · email_verified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login id + verification gate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gender · date_of_birth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eligibility + age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is_active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soft enable/disable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7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+ personal / emergency / medical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address, contact, dietary, medical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admins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93976"/>
          <a:ext cx="5120639" cy="13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uuid · PK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matched to the Auth user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super_admin · admin · coordinator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is_active · last_login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access + audit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160520"/>
            <a:ext cx="5120640" cy="128016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70248"/>
            <a:ext cx="475487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Auth lives in Supabase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Passwords/sessions are in auth.users. The volunteers / admins tables hold the profile + role; they link by auth_user_id / email. Admin role is also stamped into the JWT (app_metadata).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669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volunteer_compliance  (1 per volunteer)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669279" cy="1952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097"/>
                <a:gridCol w="3288182"/>
              </a:tblGrid>
              <a:tr h="278891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volunteer_id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PK · FK → volunteers (unique)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lseg_status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pending · clear · possible_match · high_risk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dbs_status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not_uploaded · pending · verified · rejected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overall_status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pending · approved · rejected (derived)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1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dbs_document_url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private storage path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7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approved_at / approved_by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783080"/>
            <a:ext cx="5029200" cy="1874519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92807"/>
            <a:ext cx="4663440" cy="16916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overall_status is trigger-derived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803D"/>
                </a:solidFill>
                <a:latin typeface="Calibri"/>
              </a:rPr>
              <a:t>A BEFORE INSERT/UPDATE trigger computes it:
• LSEG clear → approved
• LSEG not clear + DBS verified → approved
• LSEG not clear + DBS rejected → rejected
• otherwise →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840480"/>
            <a:ext cx="5029200" cy="128016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950208"/>
            <a:ext cx="46634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Why derive 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Status is never set by hand, so the app and the gated dashboard always agree. Admin actions just set lseg_status / dbs_status; the trigger does the rest.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Events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events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577839" cy="1673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id · name · city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the event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draft · published · active · completed · cancelled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volunteer_start / event_start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arrival vs public start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event_end / volunteer_end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public end vs finish (cleanup)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created_by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FK → admins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roles  (catalog)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93976"/>
          <a:ext cx="5120639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id · name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global, reusable role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shown to volunteers on apply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is_active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soft delete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42900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event_roles  (per event)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3739896"/>
          <a:ext cx="5120639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event_id · role_catalog_id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FKs → events / roles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capacity · gender_restriction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slots + eligibility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617720"/>
            <a:ext cx="5577840" cy="96012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727448"/>
            <a:ext cx="5212079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Four-time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Volunteer vs event start/end lets volunteers arrive early / leave late, and drives the points engine.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Participation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event_applications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577839" cy="13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id · volunteer_id · event_id · role_id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who / where / role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applied · confirmed · waitlisted · cancelled · no_show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qr_token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unique check-in QR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waitlist_position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queue order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check_ins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93976"/>
          <a:ext cx="5120639" cy="13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application_id · volunteer_id · event_id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FKs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entry · exit · setup · cleanup · …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scanned_at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timestamp of scan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within_time_window · points_awarded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punctuality + points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251960"/>
            <a:ext cx="10881360" cy="1005840"/>
          </a:xfrm>
          <a:prstGeom prst="round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361688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Apply → confirmed (auto, if capacity) or waitlisted. On the day, an admin scans the QR → a check_in row (entry, then exit). Each scan is graded for punctuality and awards 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Engagement &amp;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6692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points_transactions  (append-only)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669279" cy="13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097"/>
                <a:gridCol w="3288182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volunteer_id · event_id · check_in_id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check_in · check_out · manual_bonus · deduction · …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+/- points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awarded_by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FK → admins (null = automatic)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783080"/>
            <a:ext cx="5029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points_config  (singleton)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093976"/>
          <a:ext cx="5029200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2264"/>
                <a:gridCol w="2916936"/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check_in / late · check_out / early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configurable point values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grace_minutes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on-time window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3429000"/>
            <a:ext cx="5029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points_tiers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92240" y="3739896"/>
          <a:ext cx="5029200" cy="585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2264"/>
                <a:gridCol w="2916936"/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name · min_points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Bronze 0 · Silver 300 · Gold 800 · Platinum 1500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206240"/>
            <a:ext cx="5669280" cy="1051560"/>
          </a:xfrm>
          <a:prstGeom prst="round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315968"/>
            <a:ext cx="530352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5B21B6"/>
                </a:solidFill>
                <a:latin typeface="Calibri"/>
              </a:rPr>
              <a:t>Config-driven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21B6"/>
                </a:solidFill>
                <a:latin typeface="Calibri"/>
              </a:rPr>
              <a:t>Point values, the grace window and tier thresholds live in the DB and are editable in admin Settings — no code change to re-tune.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broadcast_logs / broadcast_recipients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577839" cy="1394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email · sms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scope · gender · sender_id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audience + SMS sender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recipient.status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sent · delivered · opened · failed · invalid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resend_message_id / sms_message_id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provider ids for tracking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1206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communications  (per-volunteer log)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93976"/>
          <a:ext cx="5120639" cy="1115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0668"/>
                <a:gridCol w="2969971"/>
              </a:tblGrid>
              <a:tr h="2788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volunteer_id · channel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email · sms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system · direct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subject · status · sent_by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what was sent, by whom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3977639"/>
            <a:ext cx="5120640" cy="1234440"/>
          </a:xfrm>
          <a:prstGeom prst="round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087368"/>
            <a:ext cx="4754879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Unified history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A volunteer's profile shows every message — system, direct and broadcast — by merging communications with broadcast_recipients.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5577840" cy="86868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36008"/>
            <a:ext cx="5212079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email_templates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Every email is an admin-editable template (key, subject, body_html) rendered at send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DATA MODEL ·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System &amp; security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Auth &amp; verification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93976"/>
          <a:ext cx="5577839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email_verifications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hashed token · expiry · resend counters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admin_otp_challenges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hashed 6-digit OTP · expiry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55778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Config &amp; audit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511296"/>
          <a:ext cx="557783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2692"/>
                <a:gridCol w="3235147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 / notes</a:t>
                      </a:r>
                    </a:p>
                  </a:txBody>
                  <a:tcPr marL="76200" marT="25400" marB="25400">
                    <a:solidFill>
                      <a:srgbClr val="A885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sms_config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default SMS sender id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certificate_configs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per-event certificate template + layout</a:t>
                      </a:r>
                    </a:p>
                  </a:txBody>
                  <a:tcPr marL="76200" marT="12700" marB="12700" anchor="ctr">
                    <a:solidFill>
                      <a:srgbClr val="F3EF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69" b="1">
                          <a:solidFill>
                            <a:srgbClr val="1A1714"/>
                          </a:solidFill>
                          <a:latin typeface="Calibri"/>
                        </a:rPr>
                        <a:t>activity_log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78716C"/>
                          </a:solidFill>
                          <a:latin typeface="Calibri"/>
                        </a:rPr>
                        <a:t>actor · action · metadata (audit trail)</a:t>
                      </a:r>
                    </a:p>
                  </a:txBody>
                  <a:tcPr marL="762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783080"/>
            <a:ext cx="5120640" cy="182880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92807"/>
            <a:ext cx="4754879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Secret-bearing tables are locked down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803D"/>
                </a:solidFill>
                <a:latin typeface="Calibri"/>
              </a:rPr>
              <a:t>email_verifications and admin_otp_challenges store only SHA-256 hashes, never the raw token/code. RLS is on with no anon policy → reachable only by the server (service role).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94760"/>
            <a:ext cx="5120640" cy="137160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904488"/>
            <a:ext cx="4754879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Single-source config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points_config, points_tiers, sms_config and email_templates make the platform tunable from the admin UI without deploys.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560320"/>
            <a:ext cx="822960" cy="822960"/>
          </a:xfrm>
          <a:prstGeom prst="round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714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51460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Authentication &amp;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3429000"/>
            <a:ext cx="9601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1B2"/>
                </a:solidFill>
                <a:latin typeface="Calibri"/>
              </a:rPr>
              <a:t>From sign-up to an approved, active volunteer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AUTH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Account model &amp; login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783080"/>
            <a:ext cx="2743200" cy="777240"/>
          </a:xfrm>
          <a:prstGeom prst="round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82312" y="1783080"/>
            <a:ext cx="259689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auth.users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9C1B2"/>
                </a:solidFill>
                <a:latin typeface="Calibri"/>
              </a:rPr>
              <a:t>Supabase Auth · passwords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00400"/>
            <a:ext cx="3291840" cy="91440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200400"/>
            <a:ext cx="3145536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volunteers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D4ED8"/>
                </a:solidFill>
                <a:latin typeface="Calibri"/>
              </a:rPr>
              <a:t>email_verified · is_active
linked by auth_user_id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00400"/>
            <a:ext cx="3291840" cy="91440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3200400"/>
            <a:ext cx="3145536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admins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role in app_metadata
linked by email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43200" y="2560320"/>
            <a:ext cx="2377440" cy="64008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2560320"/>
            <a:ext cx="2377440" cy="64008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97280" y="4526280"/>
            <a:ext cx="3291840" cy="73152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526280"/>
            <a:ext cx="314553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4ED8"/>
                </a:solidFill>
                <a:latin typeface="Calibri"/>
              </a:rPr>
              <a:t>Volunteer login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D4ED8"/>
                </a:solidFill>
                <a:latin typeface="Calibri"/>
              </a:rPr>
              <a:t>password + email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526280"/>
            <a:ext cx="3291840" cy="73152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4526280"/>
            <a:ext cx="3145536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Admin login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password + email OTP (2FA)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4114800"/>
            <a:ext cx="0" cy="41148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4114800"/>
            <a:ext cx="0" cy="41148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5486400"/>
            <a:ext cx="9966960" cy="77724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596128"/>
            <a:ext cx="9601200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One identity store, two journeys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Both roles authenticate against Supabase Auth; the profile table determines which experience (and which extra checks) apply.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AUTH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Registration → email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2103120" cy="128016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194560"/>
            <a:ext cx="1956815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714"/>
                </a:solidFill>
                <a:latin typeface="Calibri"/>
              </a:rPr>
              <a:t>Register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714"/>
                </a:solidFill>
                <a:latin typeface="Calibri"/>
              </a:rPr>
              <a:t>3-step 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39" y="2834639"/>
            <a:ext cx="283464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9504" y="2194560"/>
            <a:ext cx="2103120" cy="128016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2194560"/>
            <a:ext cx="1956815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Create user
+ volunteer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D4ED8"/>
                </a:solidFill>
                <a:latin typeface="Calibri"/>
              </a:rPr>
              <a:t>email_verified = false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92624" y="2834639"/>
            <a:ext cx="283464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76088" y="2194560"/>
            <a:ext cx="2103120" cy="128016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194560"/>
            <a:ext cx="1956815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Issue token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803D"/>
                </a:solidFill>
                <a:latin typeface="Calibri"/>
              </a:rPr>
              <a:t>32-byte random,
SHA-256 hashed, 1h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79208" y="2834639"/>
            <a:ext cx="283464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62671" y="2194560"/>
            <a:ext cx="2103120" cy="128016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3" y="2194560"/>
            <a:ext cx="1956815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714"/>
                </a:solidFill>
                <a:latin typeface="Calibri"/>
              </a:rPr>
              <a:t>Email link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1714"/>
                </a:solidFill>
                <a:latin typeface="Calibri"/>
              </a:rPr>
              <a:t>/verify-email?token=…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65792" y="2834639"/>
            <a:ext cx="283464" cy="0"/>
          </a:xfrm>
          <a:prstGeom prst="line">
            <a:avLst/>
          </a:prstGeom>
          <a:ln w="22225">
            <a:solidFill>
              <a:srgbClr val="A885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49255" y="2194560"/>
            <a:ext cx="2103120" cy="128016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2194560"/>
            <a:ext cx="1956815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Verified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5803D"/>
                </a:solidFill>
                <a:latin typeface="Calibri"/>
              </a:rPr>
              <a:t>email_verified = 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064240" cy="91440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87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803D"/>
                </a:solidFill>
                <a:latin typeface="Calibri"/>
              </a:rPr>
              <a:t>Only the hash is stored (a DB leak yields no usable links). One row per volunteer ⇒ a resend invalidates older links. Resend is throttled (60s cooldown + 5/24h) and never reveals whether an address exists.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200"/>
            <a:ext cx="11064240" cy="96012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38928"/>
            <a:ext cx="1069848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Login is blocked until email_verified = true — the app verifies it explicitly (independent of Supabase's own email-confirm setting). Existing volunteers were grandfathered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AUTH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Volunteer login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Calibri"/>
              </a:rPr>
              <a:t>/api/auth/login checks, in order: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46304" cy="56692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5486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53400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1 ·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331720"/>
            <a:ext cx="2377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Supabase signInWithPassword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08376"/>
            <a:ext cx="146304" cy="56692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08376"/>
            <a:ext cx="5486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008376"/>
            <a:ext cx="53400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2 · Volunteer account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08376"/>
            <a:ext cx="2377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linked to this Auth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85032"/>
            <a:ext cx="146304" cy="566928"/>
          </a:xfrm>
          <a:prstGeom prst="round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685032"/>
            <a:ext cx="5486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85032"/>
            <a:ext cx="53400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3 · Email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85032"/>
            <a:ext cx="2377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else 403 + ‘resend’ 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61688"/>
            <a:ext cx="146304" cy="56692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361688"/>
            <a:ext cx="548640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61688"/>
            <a:ext cx="534009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714"/>
                </a:solidFill>
                <a:latin typeface="Calibri"/>
              </a:rPr>
              <a:t>4 · Account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361688"/>
            <a:ext cx="2377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is_active =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331720"/>
            <a:ext cx="4846320" cy="1828800"/>
          </a:xfrm>
          <a:prstGeom prst="round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441448"/>
            <a:ext cx="4480559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Then — the compliance 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4ED8"/>
                </a:solidFill>
                <a:latin typeface="Calibri"/>
              </a:rPr>
              <a:t>A verified, active volunteer can sign in, but the dashboard stays gated until overall_status = approved. They see a status screen (under review / upload DBS / rejected) instead.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343400"/>
            <a:ext cx="4846320" cy="86868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453128"/>
            <a:ext cx="4480559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Admins differ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Admin login adds an emailed 6-digit OTP (2FA) before a session is issued.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AUTH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Onboarding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8716C"/>
                </a:solidFill>
                <a:latin typeface="Calibri"/>
              </a:rPr>
              <a:t>DBS becomes the fallback when the LSEG check isn't 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103120" cy="914400"/>
          </a:xfrm>
          <a:prstGeom prst="roundRect">
            <a:avLst/>
          </a:prstGeom>
          <a:solidFill>
            <a:srgbClr val="F3EFE6"/>
          </a:solidFill>
          <a:ln w="15875">
            <a:solidFill>
              <a:srgbClr val="E4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834640"/>
            <a:ext cx="195681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1714"/>
                </a:solidFill>
                <a:latin typeface="Calibri"/>
              </a:rPr>
              <a:t>Awaiting 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716C"/>
                </a:solidFill>
                <a:latin typeface="Calibri"/>
              </a:rPr>
              <a:t>just signed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83080"/>
            <a:ext cx="237744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783080"/>
            <a:ext cx="2231136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5803D"/>
                </a:solidFill>
                <a:latin typeface="Calibri"/>
              </a:rPr>
              <a:t>LSEG clear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3D"/>
                </a:solidFill>
                <a:latin typeface="Calibri"/>
              </a:rPr>
              <a:t>→ approved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63240"/>
            <a:ext cx="2377440" cy="914400"/>
          </a:xfrm>
          <a:prstGeom prst="roundRect">
            <a:avLst/>
          </a:prstGeom>
          <a:solidFill>
            <a:srgbClr val="FEF9C3"/>
          </a:solidFill>
          <a:ln w="1587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3063240"/>
            <a:ext cx="2231136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2400E"/>
                </a:solidFill>
                <a:latin typeface="Calibri"/>
              </a:rPr>
              <a:t>Not clear →
DBS required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2400E"/>
                </a:solidFill>
                <a:latin typeface="Calibri"/>
              </a:rPr>
              <a:t>volunteer uploads DBS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063240"/>
            <a:ext cx="2103120" cy="914400"/>
          </a:xfrm>
          <a:prstGeom prst="roundRect">
            <a:avLst/>
          </a:prstGeom>
          <a:solidFill>
            <a:srgbClr val="E7EEF6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063240"/>
            <a:ext cx="1956815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D4ED8"/>
                </a:solidFill>
                <a:latin typeface="Calibri"/>
              </a:rPr>
              <a:t>DBS 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D4ED8"/>
                </a:solidFill>
                <a:latin typeface="Calibri"/>
              </a:rPr>
              <a:t>admin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783080"/>
            <a:ext cx="2377440" cy="8686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1783080"/>
            <a:ext cx="2231136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5803D"/>
                </a:solidFill>
                <a:latin typeface="Calibri"/>
              </a:rPr>
              <a:t>Approved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3D"/>
                </a:solidFill>
                <a:latin typeface="Calibri"/>
              </a:rPr>
              <a:t>dashboard unlocks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160520"/>
            <a:ext cx="2377440" cy="86868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4160520"/>
            <a:ext cx="2231136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Rejected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C2626"/>
                </a:solidFill>
                <a:latin typeface="Calibri"/>
              </a:rPr>
              <a:t>no volunteer status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743200" y="2194560"/>
            <a:ext cx="640080" cy="914400"/>
          </a:xfrm>
          <a:prstGeom prst="line">
            <a:avLst/>
          </a:prstGeom>
          <a:ln w="22225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3383280"/>
            <a:ext cx="640080" cy="91440"/>
          </a:xfrm>
          <a:prstGeom prst="line">
            <a:avLst/>
          </a:prstGeom>
          <a:ln w="22225">
            <a:solidFill>
              <a:srgbClr val="9240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3520440"/>
            <a:ext cx="548640" cy="0"/>
          </a:xfrm>
          <a:prstGeom prst="line">
            <a:avLst/>
          </a:prstGeom>
          <a:ln w="2222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760720" y="2103120"/>
            <a:ext cx="3383280" cy="91440"/>
          </a:xfrm>
          <a:prstGeom prst="line">
            <a:avLst/>
          </a:prstGeom>
          <a:ln w="22225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412480" y="2377440"/>
            <a:ext cx="731520" cy="914400"/>
          </a:xfrm>
          <a:prstGeom prst="line">
            <a:avLst/>
          </a:prstGeom>
          <a:ln w="22225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0" y="269748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3749039"/>
            <a:ext cx="731520" cy="548641"/>
          </a:xfrm>
          <a:prstGeom prst="line">
            <a:avLst/>
          </a:prstGeom>
          <a:ln w="22225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0" y="388620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C2626"/>
                </a:solidFill>
                <a:latin typeface="Calibri"/>
              </a:rPr>
              <a:t>declined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40680"/>
            <a:ext cx="10881360" cy="822960"/>
          </a:xfrm>
          <a:prstGeom prst="round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55040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A1714"/>
                </a:solidFill>
                <a:latin typeface="Calibri"/>
              </a:rPr>
              <a:t>No manual ‘approve’ step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A verified volunteer with a clear LSEG check is approved automatically. The DBS path is the only second route in — and the final decision (approve / reject) is the admin's.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854A"/>
                </a:solidFill>
                <a:latin typeface="Calibri"/>
              </a:rPr>
              <a:t>AUTH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1714"/>
                </a:solidFill>
                <a:latin typeface="Calibri"/>
              </a:rPr>
              <a:t>Session, gating &amp; data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Sessions  </a:t>
            </a:r>
            <a:r>
              <a:rPr sz="1300">
                <a:solidFill>
                  <a:srgbClr val="78716C"/>
                </a:solidFill>
                <a:latin typeface="Calibri"/>
              </a:rPr>
              <a:t>are Supabase JWTs in HTTP-only cookies (SameSite=Lax); validated with getUser() on every request.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Volunteer gating  </a:t>
            </a:r>
            <a:r>
              <a:rPr sz="1300">
                <a:solidFill>
                  <a:srgbClr val="78716C"/>
                </a:solidFill>
                <a:latin typeface="Calibri"/>
              </a:rPr>
              <a:t>is enforced both client-side (the shell shows the status screen) and server-side (event APIs require overall_status = approved).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Admin authorization  </a:t>
            </a:r>
            <a:r>
              <a:rPr sz="1300">
                <a:solidFill>
                  <a:srgbClr val="78716C"/>
                </a:solidFill>
                <a:latin typeface="Calibri"/>
              </a:rPr>
              <a:t>checks the JWT role on every /api/admin/*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RLS is deny-by-default  </a:t>
            </a:r>
            <a:r>
              <a:rPr sz="1300">
                <a:solidFill>
                  <a:srgbClr val="78716C"/>
                </a:solidFill>
                <a:latin typeface="Calibri"/>
              </a:rPr>
              <a:t>— most tables have RLS on with no anon policy, so only the server (service role) can read them.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Secrets  </a:t>
            </a:r>
            <a:r>
              <a:rPr sz="1300">
                <a:solidFill>
                  <a:srgbClr val="78716C"/>
                </a:solidFill>
                <a:latin typeface="Calibri"/>
              </a:rPr>
              <a:t>(tokens, OTPs) are stored hashed; provider keys are server-only.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A8854A"/>
                </a:solidFill>
                <a:latin typeface="Calibri"/>
              </a:rPr>
              <a:t>•  </a:t>
            </a:r>
            <a:r>
              <a:rPr sz="1300" b="1">
                <a:solidFill>
                  <a:srgbClr val="1A1714"/>
                </a:solidFill>
                <a:latin typeface="Calibri"/>
              </a:rPr>
              <a:t>Webhooks  </a:t>
            </a:r>
            <a:r>
              <a:rPr sz="1300">
                <a:solidFill>
                  <a:srgbClr val="78716C"/>
                </a:solidFill>
                <a:latin typeface="Calibri"/>
              </a:rPr>
              <a:t>are signature/token verified before they mutate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881360" cy="109728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047488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Defense in depth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803D"/>
                </a:solidFill>
                <a:latin typeface="Calibri"/>
              </a:rPr>
              <a:t>Identity (Supabase Auth) → app authorization (route guards) → email verification → compliance approval → RLS as the database-level safety net. Each layer is independent, so one mistake doesn't open the door.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Volunteer Hub · Technical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16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E2541DCC01DB46990F58586613796A" ma:contentTypeVersion="10" ma:contentTypeDescription="Create a new document." ma:contentTypeScope="" ma:versionID="a90d7132ac4f3931d68ad6411d8f31b0">
  <xsd:schema xmlns:xsd="http://www.w3.org/2001/XMLSchema" xmlns:xs="http://www.w3.org/2001/XMLSchema" xmlns:p="http://schemas.microsoft.com/office/2006/metadata/properties" xmlns:ns2="f7c7c626-9fa3-4c23-8f64-81f8f5315147" xmlns:ns3="719c117a-d53d-4b0b-9099-ce4de524880a" targetNamespace="http://schemas.microsoft.com/office/2006/metadata/properties" ma:root="true" ma:fieldsID="2b6d06f4e11a4dc4b68177adcad54638" ns2:_="" ns3:_="">
    <xsd:import namespace="f7c7c626-9fa3-4c23-8f64-81f8f5315147"/>
    <xsd:import namespace="719c117a-d53d-4b0b-9099-ce4de52488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c7c626-9fa3-4c23-8f64-81f8f53151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f8da4b4-a0a8-4b8f-8b2d-31d8271955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9c117a-d53d-4b0b-9099-ce4de524880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deb31-fc00-4363-9f23-adc42edff313}" ma:internalName="TaxCatchAll" ma:showField="CatchAllData" ma:web="719c117a-d53d-4b0b-9099-ce4de52488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19c117a-d53d-4b0b-9099-ce4de524880a" xsi:nil="true"/>
    <lcf76f155ced4ddcb4097134ff3c332f xmlns="f7c7c626-9fa3-4c23-8f64-81f8f531514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501845-185D-4463-A321-FA8C08AD8342}"/>
</file>

<file path=customXml/itemProps2.xml><?xml version="1.0" encoding="utf-8"?>
<ds:datastoreItem xmlns:ds="http://schemas.openxmlformats.org/officeDocument/2006/customXml" ds:itemID="{5B339F74-F55A-4475-B0B7-1A098177145A}"/>
</file>

<file path=customXml/itemProps3.xml><?xml version="1.0" encoding="utf-8"?>
<ds:datastoreItem xmlns:ds="http://schemas.openxmlformats.org/officeDocument/2006/customXml" ds:itemID="{9DC8A0C9-7DB6-46A3-967D-14D61A48DD5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0x01010057E2541DCC01DB46990F58586613796A</vt:lpwstr>
  </property>
</Properties>
</file>